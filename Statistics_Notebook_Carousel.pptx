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7223760" cy="960120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400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📓  DATA SCIENCE NOTES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01168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Statistics for</a:t>
            </a:r>
            <a:endParaRPr lang="en-US" sz="5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Data Science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160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6B6487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22 topics · one-line definitions · formulas · Python code · real examples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5212080"/>
            <a:ext cx="859536" cy="438912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5212080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27048" y="5212080"/>
            <a:ext cx="1060704" cy="438912"/>
          </a:xfrm>
          <a:prstGeom prst="roundRect">
            <a:avLst>
              <a:gd name="adj" fmla="val 50000"/>
            </a:avLst>
          </a:prstGeom>
          <a:solidFill>
            <a:srgbClr val="E6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27048" y="5212080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Median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52344" y="5212080"/>
            <a:ext cx="1664208" cy="438912"/>
          </a:xfrm>
          <a:prstGeom prst="roundRect">
            <a:avLst>
              <a:gd name="adj" fmla="val 50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52344" y="521208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Normal Dist.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81144" y="5212080"/>
            <a:ext cx="758952" cy="438912"/>
          </a:xfrm>
          <a:prstGeom prst="roundRect">
            <a:avLst>
              <a:gd name="adj" fmla="val 50000"/>
            </a:avLst>
          </a:prstGeom>
          <a:solidFill>
            <a:srgbClr val="FDE8F0"/>
          </a:solidFill>
          <a:ln w="19050">
            <a:solidFill>
              <a:srgbClr val="E649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5212080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04688" y="5212080"/>
            <a:ext cx="1161288" cy="43891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4688" y="5212080"/>
            <a:ext cx="1161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p-value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779008"/>
            <a:ext cx="1060704" cy="438912"/>
          </a:xfrm>
          <a:prstGeom prst="roundRect">
            <a:avLst>
              <a:gd name="adj" fmla="val 50000"/>
            </a:avLst>
          </a:prstGeom>
          <a:solidFill>
            <a:srgbClr val="E9F8EC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5779008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t-test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728216" y="5779008"/>
            <a:ext cx="960120" cy="438912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28216" y="577900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ANOVA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852928" y="5779008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E6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52928" y="57790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80560" y="5779008"/>
            <a:ext cx="1362456" cy="438912"/>
          </a:xfrm>
          <a:prstGeom prst="roundRect">
            <a:avLst>
              <a:gd name="adj" fmla="val 50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5779008"/>
            <a:ext cx="1362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+ 14 more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8503920"/>
            <a:ext cx="7223760" cy="1051560"/>
          </a:xfrm>
          <a:prstGeom prst="roundRect">
            <a:avLst>
              <a:gd name="adj" fmla="val 13043"/>
            </a:avLst>
          </a:prstGeom>
          <a:solidFill>
            <a:srgbClr val="FFF3E0"/>
          </a:solidFill>
          <a:ln w="19050">
            <a:solidFill>
              <a:srgbClr val="F08C0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731520" y="85039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💡  Each page = 1 topic: definition → formula → Colab-style code → real example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02C39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Mean (Average)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sum of all values divided by 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number of values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the “average.”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3FB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x̄  =  ( Σ xᵢ )  /  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746504"/>
          </a:xfrm>
          <a:prstGeom prst="roundRect">
            <a:avLst>
              <a:gd name="adj" fmla="val 5236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[12, 15, 14, 10, 18]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np.mean(data)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print(mean)   # 13.8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83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784848"/>
            <a:ext cx="7223760" cy="1947672"/>
          </a:xfrm>
          <a:prstGeom prst="roundRect">
            <a:avLst>
              <a:gd name="adj" fmla="val 5634"/>
            </a:avLst>
          </a:prstGeom>
          <a:solidFill>
            <a:srgbClr val="E3FB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986016"/>
            <a:ext cx="66751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Average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daily website visitors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over the last 7 days.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3B82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6F0FE"/>
          </a:solidFill>
          <a:ln w="22225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Median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middle value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of a dataset when it's sorted in order.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6F0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Median  =  middle value  (sorted data)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746504"/>
          </a:xfrm>
          <a:prstGeom prst="roundRect">
            <a:avLst>
              <a:gd name="adj" fmla="val 5236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[12, 15, 14, 10, 18]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= np.median(data)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print(median)   # 14.0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83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784848"/>
            <a:ext cx="7223760" cy="1947672"/>
          </a:xfrm>
          <a:prstGeom prst="roundRect">
            <a:avLst>
              <a:gd name="adj" fmla="val 5634"/>
            </a:avLst>
          </a:prstGeom>
          <a:solidFill>
            <a:srgbClr val="E6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986016"/>
            <a:ext cx="66751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Median household income is more reliable than mean — it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resists outliers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like billionaires.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8B5C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1EAFE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Mode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value that appears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most frequently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 a dataset.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1E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Mode  =  value with highest frequency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746504"/>
          </a:xfrm>
          <a:prstGeom prst="roundRect">
            <a:avLst>
              <a:gd name="adj" fmla="val 5236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[10, 12, 12, 14, 18]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 = stats.mode(data, keepdims=True)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print(mode.mode[0])   # 12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83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784848"/>
            <a:ext cx="7223760" cy="1947672"/>
          </a:xfrm>
          <a:prstGeom prst="roundRect">
            <a:avLst>
              <a:gd name="adj" fmla="val 5634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986016"/>
            <a:ext cx="66751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most common shirt size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ordered is “M” — that's the mode.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E6498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DE8F0"/>
          </a:solidFill>
          <a:ln w="22225">
            <a:solidFill>
              <a:srgbClr val="E649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Range, Variance &amp; Std Dev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649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Three ways to measure how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spread out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 dataset is.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DE8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s² = Σ(xᵢ − x̄)² / (n−1)      s = √s²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2057400"/>
          </a:xfrm>
          <a:prstGeom prst="roundRect">
            <a:avLst>
              <a:gd name="adj" fmla="val 4444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[12, 15, 14, 10, 18]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np.ptp(data)              # range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= np.var(data, ddof=1)      # variance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= np.std(data, ddof=1)      # std dev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793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7095744"/>
            <a:ext cx="7223760" cy="1636776"/>
          </a:xfrm>
          <a:prstGeom prst="roundRect">
            <a:avLst>
              <a:gd name="adj" fmla="val 6704"/>
            </a:avLst>
          </a:prstGeom>
          <a:solidFill>
            <a:srgbClr val="FDE8F0"/>
          </a:solidFill>
          <a:ln w="19050">
            <a:solidFill>
              <a:srgbClr val="E649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7296912"/>
            <a:ext cx="66751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Are delivery times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always ~30 min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or wildly inconsistent? Std dev tells you.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E649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F08C0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22225">
            <a:solidFill>
              <a:srgbClr val="F0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Percentiles, Quartiles &amp; IQR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F08C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Percentiles split sorted data into 100 parts; IQR measures 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middle 50%’s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spread.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IQR  =  Q3 − Q1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2057400"/>
          </a:xfrm>
          <a:prstGeom prst="roundRect">
            <a:avLst>
              <a:gd name="adj" fmla="val 4444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np.percentile(data, 25)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np.percentile(data, 75)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print(iqr)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793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7095744"/>
            <a:ext cx="7223760" cy="1636776"/>
          </a:xfrm>
          <a:prstGeom prst="roundRect">
            <a:avLst>
              <a:gd name="adj" fmla="val 6704"/>
            </a:avLst>
          </a:prstGeom>
          <a:solidFill>
            <a:srgbClr val="FFF3E0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7296912"/>
            <a:ext cx="66751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student scoring in the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90th percentile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did better than 90% of test-takers.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F08C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2F9E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9F8EC"/>
          </a:solidFill>
          <a:ln w="22225">
            <a:solidFill>
              <a:srgbClr val="2F9E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Skewness &amp; Kurtosis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F9E4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Skewness measures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asymmetry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; kurtosis measures how heavy the tails are.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9F8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Skew = E[(x−μ)³]/σ³     Kurt = E[(x−μ)⁴]/σ⁴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skew, kurtosis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skew(data)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kurtosis(data)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E9F8EC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Income data is usually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right-skewed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a few very high earners pull the tail.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02C39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Probability Basics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likelihood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of an event happening, expressed between 0 and 1.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3FB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P(A)  =  favorable outcomes / total outcomes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746504"/>
          </a:xfrm>
          <a:prstGeom prst="roundRect">
            <a:avLst>
              <a:gd name="adj" fmla="val 5236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favorable = 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favorable / total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print(prob)   # 0.1667 (rolling a 4)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83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784848"/>
            <a:ext cx="7223760" cy="1947672"/>
          </a:xfrm>
          <a:prstGeom prst="roundRect">
            <a:avLst>
              <a:gd name="adj" fmla="val 5634"/>
            </a:avLst>
          </a:prstGeom>
          <a:solidFill>
            <a:srgbClr val="E3FB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986016"/>
            <a:ext cx="66751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Probability a customer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clicks an ad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based on historical click rates.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3B82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6F0FE"/>
          </a:solidFill>
          <a:ln w="22225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Normal Distribution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symmetric,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bell-shaped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distribution defined by its mean and std dev.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6F0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f(x) = (1/σ√2π) e^−(x−μ)²/2σ²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norm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norm.pdf(x=170, loc=165, scale=7)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print(prob)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E6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Adult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heights in a population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roughly follow a normal distribution.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8B5C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1EAFE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Binomial Distribution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Models the number of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successes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 a fixed number of yes/no trials.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1E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P(X=k) = C(n,k) pᵏ (1−p)ⁿ⁻ᵏ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binom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binom.pmf(k=3, n=10, p=0.5)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print(prob)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Probability exactly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 of 10 emails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sent get opened, if open rate is 50%.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E6498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DE8F0"/>
          </a:solidFill>
          <a:ln w="22225">
            <a:solidFill>
              <a:srgbClr val="E649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Poisson Distribution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649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Models the number of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events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occurring in a fixed time or space interval.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DE8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P(X=k)  =  (λᵏ e⁻λ) / k!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poisson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poisson.pmf(k=2, mu=3)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print(prob)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FDE8F0"/>
          </a:solidFill>
          <a:ln w="19050">
            <a:solidFill>
              <a:srgbClr val="E649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Number of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support tickets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arriving per hour at a help desk.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E649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F08C0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22225">
            <a:solidFill>
              <a:srgbClr val="F0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Central Limit Theorem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F08C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Sample means approach a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normal distribution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as sample size grows — whatever the population looks like.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x̄  ~  N( μ ,  σ²/n )   as n → large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746504"/>
          </a:xfrm>
          <a:prstGeom prst="roundRect">
            <a:avLst>
              <a:gd name="adj" fmla="val 5236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means = [np.mean(np.random.choice(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data, 30)) for _ in range(1000)]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distribution of means is ~ normal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83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784848"/>
            <a:ext cx="7223760" cy="1947672"/>
          </a:xfrm>
          <a:prstGeom prst="roundRect">
            <a:avLst>
              <a:gd name="adj" fmla="val 5634"/>
            </a:avLst>
          </a:prstGeom>
          <a:solidFill>
            <a:srgbClr val="FFF3E0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986016"/>
            <a:ext cx="66751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Even if purchase amounts are skewed,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average purchase across many samples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is normal.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F08C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2F9E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9F8EC"/>
          </a:solidFill>
          <a:ln w="22225">
            <a:solidFill>
              <a:srgbClr val="2F9E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Sampling Methods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F9E4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Techniques for selecting a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representative subset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of a larger population.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9F8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Simple Random  ·  Stratified  ·  Systematic  ·  Cluster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124712"/>
          </a:xfrm>
          <a:prstGeom prst="roundRect">
            <a:avLst>
              <a:gd name="adj" fmla="val 8130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 random sample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= df.sample(n=200, random_state=42)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8613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163056"/>
            <a:ext cx="7223760" cy="2569464"/>
          </a:xfrm>
          <a:prstGeom prst="roundRect">
            <a:avLst>
              <a:gd name="adj" fmla="val 4270"/>
            </a:avLst>
          </a:prstGeom>
          <a:solidFill>
            <a:srgbClr val="E9F8EC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364224"/>
            <a:ext cx="667512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Surveying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500 random customers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instead of all 1 million.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02C39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Covariance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Measures how two variables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change together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direction only, not strength.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3FB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Cov(x,y) = Σ(xᵢ−x̄)(yᵢ−ȳ) / (n−1)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 = np.cov(ad_spend, sales)[0][1]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print(cov)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E3FB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 spend and sales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increase together, decrease together, or neither?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3B82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6F0FE"/>
          </a:solidFill>
          <a:ln w="22225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Correlation (Pearson's r)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standardized measure, from −1 to 1, of how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strongly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two variables move together.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6F0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r  =  Cov(x,y) / (σₓ · σᵧ)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np.corrcoef(study_hours, scores)[0][1]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E6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Strength of the relationship between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study hours and exam scores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8B5C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1EAFE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Hypothesis Testing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formal process to decide if an observed effect is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statistically real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or just chance.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1E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H₀: no effect        H₁: effect exists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ttest_ind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t_stat, p_value = ttest_ind(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group_a, group_b)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Does a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new drug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actually lower blood pressure, or is it random variation?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E6498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DE8F0"/>
          </a:solidFill>
          <a:ln w="22225">
            <a:solidFill>
              <a:srgbClr val="E649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p-value &amp; Significance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649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probability of seeing results this extreme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if H₀ were true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DE8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Reject H₀  if  p-value  &lt;  α  (commonly 0.05)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746504"/>
          </a:xfrm>
          <a:prstGeom prst="roundRect">
            <a:avLst>
              <a:gd name="adj" fmla="val 5236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p_value = 0.02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0.05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p_value &lt; alpha: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print("Statistically significant")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83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784848"/>
            <a:ext cx="7223760" cy="1947672"/>
          </a:xfrm>
          <a:prstGeom prst="roundRect">
            <a:avLst>
              <a:gd name="adj" fmla="val 5634"/>
            </a:avLst>
          </a:prstGeom>
          <a:solidFill>
            <a:srgbClr val="FDE8F0"/>
          </a:solidFill>
          <a:ln w="19050">
            <a:solidFill>
              <a:srgbClr val="E649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986016"/>
            <a:ext cx="66751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 = 0.02 is strong evidence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against H₀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the effect is likely real.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E649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F08C0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22225">
            <a:solidFill>
              <a:srgbClr val="F08C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t-test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F08C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Tests whether 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means of two groups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are significantly different.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t  =  (x̄ − μ) / (s / √n)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124712"/>
          </a:xfrm>
          <a:prstGeom prst="roundRect">
            <a:avLst>
              <a:gd name="adj" fmla="val 8130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ttest_ind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ttest_ind(campaign_a_rev, campaign_b_rev)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8613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F08C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163056"/>
            <a:ext cx="7223760" cy="2569464"/>
          </a:xfrm>
          <a:prstGeom prst="roundRect">
            <a:avLst>
              <a:gd name="adj" fmla="val 4270"/>
            </a:avLst>
          </a:prstGeom>
          <a:solidFill>
            <a:srgbClr val="FFF3E0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364224"/>
            <a:ext cx="667512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Compare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average revenue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between two marketing campaigns.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F08C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2F9E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9F8EC"/>
          </a:solidFill>
          <a:ln w="22225">
            <a:solidFill>
              <a:srgbClr val="2F9E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Chi-Square Test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F9E4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Tests whether two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categorical variables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are associated, or independent.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9F8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χ²  =  Σ  (O − E)² / 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124712"/>
          </a:xfrm>
          <a:prstGeom prst="roundRect">
            <a:avLst>
              <a:gd name="adj" fmla="val 8130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chi2_contingency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chi2, p, dof, exp = chi2_contingency(table)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8613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2F9E44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163056"/>
            <a:ext cx="7223760" cy="2569464"/>
          </a:xfrm>
          <a:prstGeom prst="roundRect">
            <a:avLst>
              <a:gd name="adj" fmla="val 4270"/>
            </a:avLst>
          </a:prstGeom>
          <a:solidFill>
            <a:srgbClr val="E9F8EC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364224"/>
            <a:ext cx="667512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Is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gender related to product preference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? Chi-square can tell you.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02C39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19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3FBF3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ANOVA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Compares 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means of three or more groups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at once.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3FB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F  =  MS between-groups / MS within-groups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124712"/>
          </a:xfrm>
          <a:prstGeom prst="roundRect">
            <a:avLst>
              <a:gd name="adj" fmla="val 8130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f_oneway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f_oneway(method_a, method_b, method_c)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8613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163056"/>
            <a:ext cx="7223760" cy="2569464"/>
          </a:xfrm>
          <a:prstGeom prst="roundRect">
            <a:avLst>
              <a:gd name="adj" fmla="val 4270"/>
            </a:avLst>
          </a:prstGeom>
          <a:solidFill>
            <a:srgbClr val="E3FB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364224"/>
            <a:ext cx="667512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Compare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average test scores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across 3 different teaching methods.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3B82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20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E6F0FE"/>
          </a:solidFill>
          <a:ln w="22225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Confidence Interval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range likely to contain 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true population value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at a stated confidence level.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E6F0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CI  =  x̄  ±  z·(σ/√n)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stats.t.interval(0.95, df=n-1,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loc=mean, scale=sem)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E6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We're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95% confident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the true conversion rate is between 3.1% and 3.9%.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8B5CF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21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1EAFE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Linear Regression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Models a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straight-line relationship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between a numeric target and predictors.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1E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y  =  β₀ + β₁x + ε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LinearRegression().fit(X, y)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model.predict(X_new)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Predict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house price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from square footage.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E6498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22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6152" y="484632"/>
            <a:ext cx="6510528" cy="621792"/>
          </a:xfrm>
          <a:prstGeom prst="roundRect">
            <a:avLst>
              <a:gd name="adj" fmla="val 50000"/>
            </a:avLst>
          </a:prstGeom>
          <a:solidFill>
            <a:srgbClr val="FDE8F0"/>
          </a:solidFill>
          <a:ln w="22225">
            <a:solidFill>
              <a:srgbClr val="E649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48463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Logistic Regression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7223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649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Models the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B2650"/>
                </a:solidFill>
                <a:highlight>
                  <a:srgbClr val="FFE066"/>
                </a:highligh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probability of a binary outcome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using a sigmoid function.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🧮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FDE8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9067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  =  1 / (1 + e⁻(β₀+β₁x))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(COLAB)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62272"/>
            <a:ext cx="7223760" cy="1435608"/>
          </a:xfrm>
          <a:prstGeom prst="roundRect">
            <a:avLst>
              <a:gd name="adj" fmla="val 6369"/>
            </a:avLst>
          </a:prstGeom>
          <a:solidFill>
            <a:srgbClr val="282C3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46085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46085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" y="46085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82896"/>
            <a:ext cx="66751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LogisticRegression().fit(X, y)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model.predict_proba(X_new)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72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  </a:t>
            </a:r>
            <a:pPr indent="0" marL="0">
              <a:buNone/>
            </a:pPr>
            <a:r>
              <a:rPr lang="en-US" sz="1350" b="1" dirty="0">
                <a:solidFill>
                  <a:srgbClr val="E6498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7223760" cy="2258568"/>
          </a:xfrm>
          <a:prstGeom prst="roundRect">
            <a:avLst>
              <a:gd name="adj" fmla="val 4858"/>
            </a:avLst>
          </a:prstGeom>
          <a:solidFill>
            <a:srgbClr val="FDE8F0"/>
          </a:solidFill>
          <a:ln w="19050">
            <a:solidFill>
              <a:srgbClr val="E649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6675120"/>
            <a:ext cx="6675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Predict whether a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customer will churn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yes or no.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9464040"/>
            <a:ext cx="7223760" cy="64008"/>
          </a:xfrm>
          <a:prstGeom prst="roundRect">
            <a:avLst>
              <a:gd name="adj" fmla="val 50000"/>
            </a:avLst>
          </a:prstGeom>
          <a:solidFill>
            <a:srgbClr val="E649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9582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722376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8229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✅  THAT'S A WRAP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03120"/>
            <a:ext cx="7223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22 Statistics Concepts</a:t>
            </a:r>
            <a:endParaRPr lang="en-US" sz="3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Every Data Scientist</a:t>
            </a:r>
            <a:endParaRPr lang="en-US" sz="3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Should Know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0"/>
            <a:ext cx="7223760" cy="896112"/>
          </a:xfrm>
          <a:prstGeom prst="roundRect">
            <a:avLst>
              <a:gd name="adj" fmla="val 12245"/>
            </a:avLst>
          </a:prstGeom>
          <a:solidFill>
            <a:srgbClr val="E3FBF3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62686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560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487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Mean · Median · Mode · Spread · IQR · Skew/Kurtosis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5577840"/>
            <a:ext cx="7223760" cy="896112"/>
          </a:xfrm>
          <a:prstGeom prst="roundRect">
            <a:avLst>
              <a:gd name="adj" fmla="val 12245"/>
            </a:avLst>
          </a:prstGeom>
          <a:solidFill>
            <a:srgbClr val="E6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63270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Probability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96188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487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Probability · Normal · Binomial · Poisson · CLT · Sampling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6583680"/>
            <a:ext cx="7223760" cy="896112"/>
          </a:xfrm>
          <a:prstGeom prst="roundRect">
            <a:avLst>
              <a:gd name="adj" fmla="val 12245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663854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9677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487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Covariance · Correlation · Regression · Logistic Regression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7589520"/>
            <a:ext cx="7223760" cy="896112"/>
          </a:xfrm>
          <a:prstGeom prst="roundRect">
            <a:avLst>
              <a:gd name="adj" fmla="val 12245"/>
            </a:avLst>
          </a:prstGeom>
          <a:solidFill>
            <a:srgbClr val="FDE8F0"/>
          </a:solidFill>
          <a:ln w="19050">
            <a:solidFill>
              <a:srgbClr val="E649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76443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Kalam" pitchFamily="34" charset="0"/>
                <a:ea typeface="Kalam" pitchFamily="34" charset="-122"/>
                <a:cs typeface="Kalam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79735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487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Hypothesis Testing · p-value · t-test · Chi-Square · ANOVA · 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8686800"/>
            <a:ext cx="7223760" cy="82296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9050">
            <a:solidFill>
              <a:srgbClr val="F08C0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31520" y="8686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6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Which topic do you want explained deeper? Drop it below 👇   Follow for more!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9829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2026-10-03T03:27:29Z</dcterms:created>
  <dcterms:modified xsi:type="dcterms:W3CDTF">2026-10-03T03:27:29Z</dcterms:modified>
</cp:coreProperties>
</file>